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  <p:embeddedFont>
      <p:font typeface="Public Sans" charset="1" panose="00000000000000000000"/>
      <p:regular r:id="rId22"/>
    </p:embeddedFont>
    <p:embeddedFont>
      <p:font typeface="Klein Bold" charset="1" panose="02000503060000020004"/>
      <p:regular r:id="rId23"/>
    </p:embeddedFont>
    <p:embeddedFont>
      <p:font typeface="Public Sans Italics" charset="1" panose="00000000000000000000"/>
      <p:regular r:id="rId24"/>
    </p:embeddedFont>
    <p:embeddedFont>
      <p:font typeface="Public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05828" y="-67524"/>
            <a:ext cx="6802445" cy="10392624"/>
          </a:xfrm>
          <a:custGeom>
            <a:avLst/>
            <a:gdLst/>
            <a:ahLst/>
            <a:cxnLst/>
            <a:rect r="r" b="b" t="t" l="l"/>
            <a:pathLst>
              <a:path h="10392624" w="6802445">
                <a:moveTo>
                  <a:pt x="0" y="0"/>
                </a:moveTo>
                <a:lnTo>
                  <a:pt x="6802444" y="0"/>
                </a:lnTo>
                <a:lnTo>
                  <a:pt x="6802444" y="10392624"/>
                </a:lnTo>
                <a:lnTo>
                  <a:pt x="0" y="1039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8206" y="1028700"/>
            <a:ext cx="7016328" cy="1313842"/>
          </a:xfrm>
          <a:custGeom>
            <a:avLst/>
            <a:gdLst/>
            <a:ahLst/>
            <a:cxnLst/>
            <a:rect r="r" b="b" t="t" l="l"/>
            <a:pathLst>
              <a:path h="1313842" w="7016328">
                <a:moveTo>
                  <a:pt x="0" y="0"/>
                </a:moveTo>
                <a:lnTo>
                  <a:pt x="7016328" y="0"/>
                </a:lnTo>
                <a:lnTo>
                  <a:pt x="7016328" y="1313842"/>
                </a:lnTo>
                <a:lnTo>
                  <a:pt x="0" y="1313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67809"/>
            <a:ext cx="13216281" cy="31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DOPPELGANGER IA </a:t>
            </a:r>
          </a:p>
          <a:p>
            <a:pPr algn="l">
              <a:lnSpc>
                <a:spcPts val="7035"/>
              </a:lnSpc>
            </a:pPr>
            <a:r>
              <a:rPr lang="en-US" sz="6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Système de reconnaissance faciale et recherche de sosies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12957"/>
            <a:ext cx="423636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Projet de Deep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740015"/>
            <a:ext cx="412539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MOUHI Christ-Emmanuel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GBE Vé Eddy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BALOGUN John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MÉITÉ Youssouf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8175" y="1085850"/>
            <a:ext cx="3357342" cy="108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8"/>
              </a:lnSpc>
            </a:pPr>
            <a:r>
              <a:rPr lang="en-US" sz="2858" spc="5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International </a:t>
            </a:r>
          </a:p>
          <a:p>
            <a:pPr algn="l">
              <a:lnSpc>
                <a:spcPts val="2858"/>
              </a:lnSpc>
            </a:pPr>
            <a:r>
              <a:rPr lang="en-US" sz="2858" spc="5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Science </a:t>
            </a:r>
          </a:p>
          <a:p>
            <a:pPr algn="l">
              <a:lnSpc>
                <a:spcPts val="2858"/>
              </a:lnSpc>
            </a:pPr>
            <a:r>
              <a:rPr lang="en-US" sz="2858" spc="5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Institute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3851" y="8951595"/>
            <a:ext cx="237113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17 Janvier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34642" y="7717155"/>
            <a:ext cx="271033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Encadrant : 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M. Mohamed Abbas Konate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75323" y="9172575"/>
            <a:ext cx="304562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92893"/>
            <a:ext cx="652202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005755" y="482797"/>
            <a:ext cx="8253545" cy="13234547"/>
          </a:xfrm>
          <a:custGeom>
            <a:avLst/>
            <a:gdLst/>
            <a:ahLst/>
            <a:cxnLst/>
            <a:rect r="r" b="b" t="t" l="l"/>
            <a:pathLst>
              <a:path h="13234547" w="8253545">
                <a:moveTo>
                  <a:pt x="0" y="0"/>
                </a:moveTo>
                <a:lnTo>
                  <a:pt x="8253545" y="0"/>
                </a:lnTo>
                <a:lnTo>
                  <a:pt x="8253545" y="13234546"/>
                </a:lnTo>
                <a:lnTo>
                  <a:pt x="0" y="1323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12161" y="9172575"/>
            <a:ext cx="430887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5899" y="1456145"/>
            <a:ext cx="5074853" cy="791385"/>
            <a:chOff x="0" y="0"/>
            <a:chExt cx="1336587" cy="20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587" cy="208431"/>
            </a:xfrm>
            <a:custGeom>
              <a:avLst/>
              <a:gdLst/>
              <a:ahLst/>
              <a:cxnLst/>
              <a:rect r="r" b="b" t="t" l="l"/>
              <a:pathLst>
                <a:path h="208431" w="1336587">
                  <a:moveTo>
                    <a:pt x="104215" y="0"/>
                  </a:moveTo>
                  <a:lnTo>
                    <a:pt x="1232371" y="0"/>
                  </a:lnTo>
                  <a:cubicBezTo>
                    <a:pt x="1289928" y="0"/>
                    <a:pt x="1336587" y="46659"/>
                    <a:pt x="1336587" y="104215"/>
                  </a:cubicBezTo>
                  <a:lnTo>
                    <a:pt x="1336587" y="104215"/>
                  </a:lnTo>
                  <a:cubicBezTo>
                    <a:pt x="1336587" y="161772"/>
                    <a:pt x="1289928" y="208431"/>
                    <a:pt x="1232371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336587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Contexte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98635" y="5744947"/>
            <a:ext cx="4462929" cy="791385"/>
            <a:chOff x="0" y="0"/>
            <a:chExt cx="1175422" cy="208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5422" cy="208431"/>
            </a:xfrm>
            <a:custGeom>
              <a:avLst/>
              <a:gdLst/>
              <a:ahLst/>
              <a:cxnLst/>
              <a:rect r="r" b="b" t="t" l="l"/>
              <a:pathLst>
                <a:path h="208431" w="1175422">
                  <a:moveTo>
                    <a:pt x="104215" y="0"/>
                  </a:moveTo>
                  <a:lnTo>
                    <a:pt x="1071206" y="0"/>
                  </a:lnTo>
                  <a:cubicBezTo>
                    <a:pt x="1128763" y="0"/>
                    <a:pt x="1175422" y="46659"/>
                    <a:pt x="1175422" y="104215"/>
                  </a:cubicBezTo>
                  <a:lnTo>
                    <a:pt x="1175422" y="104215"/>
                  </a:lnTo>
                  <a:cubicBezTo>
                    <a:pt x="1175422" y="161772"/>
                    <a:pt x="1128763" y="208431"/>
                    <a:pt x="1071206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75422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Problématique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0" y="0"/>
            <a:ext cx="6695902" cy="10287000"/>
          </a:xfrm>
          <a:custGeom>
            <a:avLst/>
            <a:gdLst/>
            <a:ahLst/>
            <a:cxnLst/>
            <a:rect r="r" b="b" t="t" l="l"/>
            <a:pathLst>
              <a:path h="10287000" w="6695902">
                <a:moveTo>
                  <a:pt x="0" y="10287000"/>
                </a:moveTo>
                <a:lnTo>
                  <a:pt x="6695902" y="10287000"/>
                </a:lnTo>
                <a:lnTo>
                  <a:pt x="6695902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410034"/>
            <a:ext cx="5393293" cy="251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3"/>
              </a:lnSpc>
            </a:pPr>
            <a:r>
              <a:rPr lang="en-US" sz="62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Contexte </a:t>
            </a:r>
          </a:p>
          <a:p>
            <a:pPr algn="ctr">
              <a:lnSpc>
                <a:spcPts val="6573"/>
              </a:lnSpc>
            </a:pPr>
            <a:r>
              <a:rPr lang="en-US" sz="62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&amp; </a:t>
            </a:r>
          </a:p>
          <a:p>
            <a:pPr algn="ctr">
              <a:lnSpc>
                <a:spcPts val="6573"/>
              </a:lnSpc>
            </a:pPr>
            <a:r>
              <a:rPr lang="en-US" sz="62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Problématique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5899" y="2461265"/>
            <a:ext cx="948903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reconnaissance faciale : technologie clé de l'IA moderne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Applications variées : sécurité, réseaux sociaux, contrôle d'accès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Projet ludique et pédagogique : recherche de sosies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8635" y="6783982"/>
            <a:ext cx="9436298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Commen</a:t>
            </a: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 développer un système intelligent capable de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Détecter automatiquement les visages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Extraire des caractéristiques discriminantes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Comparer efficacement avec une base de milliers de visages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S'enrichir dynamiquement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5195" y="9172575"/>
            <a:ext cx="444818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0821" y="2582100"/>
            <a:ext cx="4408584" cy="4104392"/>
            <a:chOff x="0" y="0"/>
            <a:chExt cx="6350000" cy="5911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2"/>
              <a:stretch>
                <a:fillRect l="-19842" t="0" r="-1984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39708" y="2572575"/>
            <a:ext cx="4408584" cy="4104392"/>
            <a:chOff x="0" y="0"/>
            <a:chExt cx="6350000" cy="5911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2540" cy="5913120"/>
            </a:xfrm>
            <a:custGeom>
              <a:avLst/>
              <a:gdLst/>
              <a:ahLst/>
              <a:cxnLst/>
              <a:rect r="r" b="b" t="t" l="l"/>
              <a:pathLst>
                <a:path h="5913120" w="6352540">
                  <a:moveTo>
                    <a:pt x="5995670" y="1826260"/>
                  </a:moveTo>
                  <a:lnTo>
                    <a:pt x="4719320" y="1826260"/>
                  </a:lnTo>
                  <a:cubicBezTo>
                    <a:pt x="4523740" y="1826260"/>
                    <a:pt x="4364990" y="1667510"/>
                    <a:pt x="4364990" y="1471930"/>
                  </a:cubicBezTo>
                  <a:lnTo>
                    <a:pt x="4364990" y="354330"/>
                  </a:lnTo>
                  <a:cubicBezTo>
                    <a:pt x="4364990" y="158750"/>
                    <a:pt x="4206240" y="0"/>
                    <a:pt x="4010660" y="0"/>
                  </a:cubicBezTo>
                  <a:lnTo>
                    <a:pt x="1061720" y="0"/>
                  </a:lnTo>
                  <a:cubicBezTo>
                    <a:pt x="866140" y="0"/>
                    <a:pt x="707390" y="158750"/>
                    <a:pt x="707390" y="354330"/>
                  </a:cubicBezTo>
                  <a:lnTo>
                    <a:pt x="707390" y="506730"/>
                  </a:lnTo>
                  <a:cubicBezTo>
                    <a:pt x="707390" y="702310"/>
                    <a:pt x="548640" y="861060"/>
                    <a:pt x="353060" y="861060"/>
                  </a:cubicBezTo>
                  <a:cubicBezTo>
                    <a:pt x="158750" y="861060"/>
                    <a:pt x="0" y="1018540"/>
                    <a:pt x="0" y="1214120"/>
                  </a:cubicBezTo>
                  <a:lnTo>
                    <a:pt x="0" y="4723130"/>
                  </a:lnTo>
                  <a:cubicBezTo>
                    <a:pt x="0" y="4918710"/>
                    <a:pt x="158750" y="5077460"/>
                    <a:pt x="354330" y="5077460"/>
                  </a:cubicBezTo>
                  <a:cubicBezTo>
                    <a:pt x="549910" y="5077460"/>
                    <a:pt x="708660" y="5236210"/>
                    <a:pt x="708660" y="5431790"/>
                  </a:cubicBezTo>
                  <a:lnTo>
                    <a:pt x="708660" y="5558790"/>
                  </a:lnTo>
                  <a:cubicBezTo>
                    <a:pt x="708660" y="5754370"/>
                    <a:pt x="867410" y="5913120"/>
                    <a:pt x="1062990" y="5913120"/>
                  </a:cubicBezTo>
                  <a:lnTo>
                    <a:pt x="4013200" y="5913120"/>
                  </a:lnTo>
                  <a:cubicBezTo>
                    <a:pt x="4208780" y="5913120"/>
                    <a:pt x="4367530" y="5754370"/>
                    <a:pt x="4367530" y="5558790"/>
                  </a:cubicBezTo>
                  <a:lnTo>
                    <a:pt x="4367530" y="5431790"/>
                  </a:lnTo>
                  <a:cubicBezTo>
                    <a:pt x="4367530" y="5236210"/>
                    <a:pt x="4526280" y="5077460"/>
                    <a:pt x="4721860" y="5077460"/>
                  </a:cubicBezTo>
                  <a:lnTo>
                    <a:pt x="5998210" y="5077460"/>
                  </a:lnTo>
                  <a:cubicBezTo>
                    <a:pt x="6193790" y="5077460"/>
                    <a:pt x="6352540" y="4918710"/>
                    <a:pt x="6352540" y="4723130"/>
                  </a:cubicBezTo>
                  <a:lnTo>
                    <a:pt x="6352540" y="2179320"/>
                  </a:lnTo>
                  <a:cubicBezTo>
                    <a:pt x="6350000" y="1983740"/>
                    <a:pt x="6191250" y="1826260"/>
                    <a:pt x="5995670" y="1826260"/>
                  </a:cubicBezTo>
                  <a:close/>
                </a:path>
              </a:pathLst>
            </a:custGeom>
            <a:blipFill>
              <a:blip r:embed="rId3"/>
              <a:stretch>
                <a:fillRect l="-32740" t="0" r="-3274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32758" y="2572575"/>
            <a:ext cx="4540256" cy="4104392"/>
            <a:chOff x="0" y="0"/>
            <a:chExt cx="6350000" cy="574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4"/>
              <a:stretch>
                <a:fillRect l="0" t="-5308" r="0" b="-5308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8010276" y="4182015"/>
            <a:ext cx="5860359" cy="8017904"/>
          </a:xfrm>
          <a:custGeom>
            <a:avLst/>
            <a:gdLst/>
            <a:ahLst/>
            <a:cxnLst/>
            <a:rect r="r" b="b" t="t" l="l"/>
            <a:pathLst>
              <a:path h="8017904" w="5860359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584799" y="-1720677"/>
            <a:ext cx="5860359" cy="8017904"/>
          </a:xfrm>
          <a:custGeom>
            <a:avLst/>
            <a:gdLst/>
            <a:ahLst/>
            <a:cxnLst/>
            <a:rect r="r" b="b" t="t" l="l"/>
            <a:pathLst>
              <a:path h="8017904" w="5860359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92491" y="992432"/>
            <a:ext cx="890301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Objectifs du projet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1240" y="6987577"/>
            <a:ext cx="388774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Objectifs techniques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1093" y="6968527"/>
            <a:ext cx="410872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Objectifs fonctionnels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94575" y="6968527"/>
            <a:ext cx="44166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Objectifs pédagogiques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3574" y="7625752"/>
            <a:ext cx="484308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Pipeline complet de reconnaissance faciale avec modèles pré-entraînés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05212" y="7517867"/>
            <a:ext cx="4843080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Interface utilisateur avec upload d'images et capture webcam</a:t>
            </a:r>
          </a:p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Système évolutif avec enrichissement de la base</a:t>
            </a:r>
          </a:p>
          <a:p>
            <a:pPr algn="ctr">
              <a:lnSpc>
                <a:spcPts val="32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081347" y="7517867"/>
            <a:ext cx="4843080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Maîtriser le transfer learning et les embeddings</a:t>
            </a:r>
          </a:p>
          <a:p>
            <a:pPr algn="ct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Comprendre les espaces vectoriels de haute dimension</a:t>
            </a:r>
          </a:p>
          <a:p>
            <a:pPr algn="ctr">
              <a:lnSpc>
                <a:spcPts val="32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172575"/>
            <a:ext cx="469940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32489" y="966187"/>
            <a:ext cx="1571938" cy="1571938"/>
          </a:xfrm>
          <a:custGeom>
            <a:avLst/>
            <a:gdLst/>
            <a:ahLst/>
            <a:cxnLst/>
            <a:rect r="r" b="b" t="t" l="l"/>
            <a:pathLst>
              <a:path h="1571938" w="1571938">
                <a:moveTo>
                  <a:pt x="0" y="0"/>
                </a:moveTo>
                <a:lnTo>
                  <a:pt x="1571938" y="0"/>
                </a:lnTo>
                <a:lnTo>
                  <a:pt x="1571938" y="1571938"/>
                </a:lnTo>
                <a:lnTo>
                  <a:pt x="0" y="1571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32489" y="7509385"/>
            <a:ext cx="1748915" cy="1748915"/>
          </a:xfrm>
          <a:custGeom>
            <a:avLst/>
            <a:gdLst/>
            <a:ahLst/>
            <a:cxnLst/>
            <a:rect r="r" b="b" t="t" l="l"/>
            <a:pathLst>
              <a:path h="1748915" w="1748915">
                <a:moveTo>
                  <a:pt x="0" y="0"/>
                </a:moveTo>
                <a:lnTo>
                  <a:pt x="1748915" y="0"/>
                </a:lnTo>
                <a:lnTo>
                  <a:pt x="1748915" y="1748915"/>
                </a:lnTo>
                <a:lnTo>
                  <a:pt x="0" y="174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32489" y="4067364"/>
            <a:ext cx="1748553" cy="1462426"/>
          </a:xfrm>
          <a:custGeom>
            <a:avLst/>
            <a:gdLst/>
            <a:ahLst/>
            <a:cxnLst/>
            <a:rect r="r" b="b" t="t" l="l"/>
            <a:pathLst>
              <a:path h="1462426" w="1748553">
                <a:moveTo>
                  <a:pt x="0" y="0"/>
                </a:moveTo>
                <a:lnTo>
                  <a:pt x="1748553" y="0"/>
                </a:lnTo>
                <a:lnTo>
                  <a:pt x="1748553" y="1462427"/>
                </a:lnTo>
                <a:lnTo>
                  <a:pt x="0" y="1462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4123" y="3267388"/>
            <a:ext cx="7078599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Fondements théoriques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50614"/>
            <a:ext cx="4866323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Briefly explain the new challenges and risks that come with AI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1336" y="838200"/>
            <a:ext cx="322409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Transfer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71336" y="3876864"/>
            <a:ext cx="37433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Embeddings faciaux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22312" y="1426875"/>
            <a:ext cx="652440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Réutilisation de modèles pré-entraînés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Réduction du temps d'entraînement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Meilleure performance avec peu de données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588685" y="4381813"/>
            <a:ext cx="6413489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Représentation vectorielle de dimension 512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Propriétés : invariance, discrimination, compacité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Transformation : Image → Vecteur normalisé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533228" y="7560644"/>
            <a:ext cx="406265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Métrique de similarité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3228" y="8157085"/>
            <a:ext cx="641348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Distance cosinus entre vecteurs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Varie entre 0 (identiques) et 2 (opposés)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flipH="true">
            <a:off x="7315606" y="-844695"/>
            <a:ext cx="0" cy="11976390"/>
          </a:xfrm>
          <a:prstGeom prst="line">
            <a:avLst/>
          </a:prstGeom>
          <a:ln cap="flat" w="38100">
            <a:solidFill>
              <a:srgbClr val="9B6A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7498468" y="9172575"/>
            <a:ext cx="458272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598260" y="4066226"/>
            <a:ext cx="3574393" cy="3574393"/>
          </a:xfrm>
          <a:custGeom>
            <a:avLst/>
            <a:gdLst/>
            <a:ahLst/>
            <a:cxnLst/>
            <a:rect r="r" b="b" t="t" l="l"/>
            <a:pathLst>
              <a:path h="3574393" w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083754" y="4066226"/>
            <a:ext cx="3574393" cy="3574393"/>
          </a:xfrm>
          <a:custGeom>
            <a:avLst/>
            <a:gdLst/>
            <a:ahLst/>
            <a:cxnLst/>
            <a:rect r="r" b="b" t="t" l="l"/>
            <a:pathLst>
              <a:path h="3574393" w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1745" y="1439220"/>
            <a:ext cx="1322451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Technologies et modèles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5416" y="6810416"/>
            <a:ext cx="387477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Détection de visages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0910" y="6810416"/>
            <a:ext cx="154924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FaceNet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5416" y="7344679"/>
            <a:ext cx="4024948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Multi-task Cascaded Convolutional Networks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Détection en 3 étapes : P-Net, R-Net, O-Net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Détection de 5 points de repère faciaux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730910" y="7344679"/>
            <a:ext cx="510896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Combinaison Inception + ResNet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Embeddings de dimension 512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Pré-entraîné sur VGGFace2 (3,3M images)</a:t>
            </a: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42902" y="4066226"/>
            <a:ext cx="1858941" cy="791385"/>
            <a:chOff x="0" y="0"/>
            <a:chExt cx="489598" cy="208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9598" cy="208431"/>
            </a:xfrm>
            <a:custGeom>
              <a:avLst/>
              <a:gdLst/>
              <a:ahLst/>
              <a:cxnLst/>
              <a:rect r="r" b="b" t="t" l="l"/>
              <a:pathLst>
                <a:path h="208431" w="489598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MTCNN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30910" y="4066226"/>
            <a:ext cx="3584511" cy="791385"/>
            <a:chOff x="0" y="0"/>
            <a:chExt cx="944069" cy="208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4069" cy="208431"/>
            </a:xfrm>
            <a:custGeom>
              <a:avLst/>
              <a:gdLst/>
              <a:ahLst/>
              <a:cxnLst/>
              <a:rect r="r" b="b" t="t" l="l"/>
              <a:pathLst>
                <a:path h="208431" w="944069">
                  <a:moveTo>
                    <a:pt x="104215" y="0"/>
                  </a:moveTo>
                  <a:lnTo>
                    <a:pt x="839853" y="0"/>
                  </a:lnTo>
                  <a:cubicBezTo>
                    <a:pt x="867493" y="0"/>
                    <a:pt x="894001" y="10980"/>
                    <a:pt x="913545" y="30524"/>
                  </a:cubicBezTo>
                  <a:cubicBezTo>
                    <a:pt x="933089" y="50068"/>
                    <a:pt x="944069" y="76576"/>
                    <a:pt x="944069" y="104215"/>
                  </a:cubicBezTo>
                  <a:lnTo>
                    <a:pt x="944069" y="104215"/>
                  </a:lnTo>
                  <a:cubicBezTo>
                    <a:pt x="944069" y="161772"/>
                    <a:pt x="897410" y="208431"/>
                    <a:pt x="839853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44069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InceptionResnetV1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13570705" y="4066226"/>
            <a:ext cx="3574393" cy="3574393"/>
          </a:xfrm>
          <a:custGeom>
            <a:avLst/>
            <a:gdLst/>
            <a:ahLst/>
            <a:cxnLst/>
            <a:rect r="r" b="b" t="t" l="l"/>
            <a:pathLst>
              <a:path h="3574393" w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17862" y="7344679"/>
            <a:ext cx="3892212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13 233 images de 5749 personnes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Référence pour la reconnaissance faciale "in the wild"</a:t>
            </a: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2115347" y="4066226"/>
            <a:ext cx="2625483" cy="791385"/>
            <a:chOff x="0" y="0"/>
            <a:chExt cx="691485" cy="208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1485" cy="208431"/>
            </a:xfrm>
            <a:custGeom>
              <a:avLst/>
              <a:gdLst/>
              <a:ahLst/>
              <a:cxnLst/>
              <a:rect r="r" b="b" t="t" l="l"/>
              <a:pathLst>
                <a:path h="208431" w="691485">
                  <a:moveTo>
                    <a:pt x="104215" y="0"/>
                  </a:moveTo>
                  <a:lnTo>
                    <a:pt x="587270" y="0"/>
                  </a:lnTo>
                  <a:cubicBezTo>
                    <a:pt x="644827" y="0"/>
                    <a:pt x="691485" y="46659"/>
                    <a:pt x="691485" y="104215"/>
                  </a:cubicBezTo>
                  <a:lnTo>
                    <a:pt x="691485" y="104215"/>
                  </a:lnTo>
                  <a:cubicBezTo>
                    <a:pt x="691485" y="161772"/>
                    <a:pt x="644827" y="208431"/>
                    <a:pt x="587270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91485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Dataset LFW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494539" y="9172575"/>
            <a:ext cx="466130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5952" y="5739163"/>
            <a:ext cx="18303952" cy="3551"/>
          </a:xfrm>
          <a:prstGeom prst="line">
            <a:avLst/>
          </a:prstGeom>
          <a:ln cap="flat" w="38100">
            <a:solidFill>
              <a:srgbClr val="9B6A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979586" y="5297200"/>
            <a:ext cx="838723" cy="83872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477" y="4211188"/>
            <a:ext cx="1858941" cy="791385"/>
            <a:chOff x="0" y="0"/>
            <a:chExt cx="489598" cy="208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9598" cy="208431"/>
            </a:xfrm>
            <a:custGeom>
              <a:avLst/>
              <a:gdLst/>
              <a:ahLst/>
              <a:cxnLst/>
              <a:rect r="r" b="b" t="t" l="l"/>
              <a:pathLst>
                <a:path h="208431" w="489598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6288" y="5319801"/>
            <a:ext cx="838723" cy="83872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66179" y="4233790"/>
            <a:ext cx="1858941" cy="791385"/>
            <a:chOff x="0" y="0"/>
            <a:chExt cx="489598" cy="208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598" cy="208431"/>
            </a:xfrm>
            <a:custGeom>
              <a:avLst/>
              <a:gdLst/>
              <a:ahLst/>
              <a:cxnLst/>
              <a:rect r="r" b="b" t="t" l="l"/>
              <a:pathLst>
                <a:path h="208431" w="489598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989" y="5342403"/>
            <a:ext cx="838723" cy="83872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62880" y="4256391"/>
            <a:ext cx="1858941" cy="791385"/>
            <a:chOff x="0" y="0"/>
            <a:chExt cx="489598" cy="2084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9598" cy="208431"/>
            </a:xfrm>
            <a:custGeom>
              <a:avLst/>
              <a:gdLst/>
              <a:ahLst/>
              <a:cxnLst/>
              <a:rect r="r" b="b" t="t" l="l"/>
              <a:pathLst>
                <a:path h="208431" w="489598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469691" y="5365004"/>
            <a:ext cx="838723" cy="83872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959582" y="4278993"/>
            <a:ext cx="1858941" cy="791385"/>
            <a:chOff x="0" y="0"/>
            <a:chExt cx="489598" cy="2084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9598" cy="208431"/>
            </a:xfrm>
            <a:custGeom>
              <a:avLst/>
              <a:gdLst/>
              <a:ahLst/>
              <a:cxnLst/>
              <a:rect r="r" b="b" t="t" l="l"/>
              <a:pathLst>
                <a:path h="208431" w="489598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74787" y="6488279"/>
            <a:ext cx="20483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Détection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8517" y="7155029"/>
            <a:ext cx="324086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MTCNN détecte et aligne le visage (160×160 pixels)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71488" y="6510881"/>
            <a:ext cx="20483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Extraction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75219" y="7177631"/>
            <a:ext cx="324086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InceptionResnetV1 génère l'embedding (512D)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68190" y="6533482"/>
            <a:ext cx="20483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Recherche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1920" y="7200232"/>
            <a:ext cx="324086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Calcul de distance cosinus avec la base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864892" y="6556084"/>
            <a:ext cx="20483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Résultats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68622" y="7222834"/>
            <a:ext cx="324086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Top-k sosies triés par similarité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54010" y="1439220"/>
            <a:ext cx="1317998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Architecture du système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21272" y="2666610"/>
            <a:ext cx="36454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Pipeline de traitement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522519" y="9172575"/>
            <a:ext cx="410170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958943" y="-15181069"/>
            <a:ext cx="12370114" cy="18898785"/>
          </a:xfrm>
          <a:custGeom>
            <a:avLst/>
            <a:gdLst/>
            <a:ahLst/>
            <a:cxnLst/>
            <a:rect r="r" b="b" t="t" l="l"/>
            <a:pathLst>
              <a:path h="18898785" w="12370114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958943" y="6569317"/>
            <a:ext cx="12370114" cy="18898785"/>
          </a:xfrm>
          <a:custGeom>
            <a:avLst/>
            <a:gdLst/>
            <a:ahLst/>
            <a:cxnLst/>
            <a:rect r="r" b="b" t="t" l="l"/>
            <a:pathLst>
              <a:path h="18898785" w="12370114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0481" y="3718287"/>
            <a:ext cx="7313278" cy="3780606"/>
            <a:chOff x="0" y="0"/>
            <a:chExt cx="1926131" cy="995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6131" cy="995715"/>
            </a:xfrm>
            <a:custGeom>
              <a:avLst/>
              <a:gdLst/>
              <a:ahLst/>
              <a:cxnLst/>
              <a:rect r="r" b="b" t="t" l="l"/>
              <a:pathLst>
                <a:path h="995715" w="1926131">
                  <a:moveTo>
                    <a:pt x="31758" y="0"/>
                  </a:moveTo>
                  <a:lnTo>
                    <a:pt x="1894373" y="0"/>
                  </a:lnTo>
                  <a:cubicBezTo>
                    <a:pt x="1902795" y="0"/>
                    <a:pt x="1910873" y="3346"/>
                    <a:pt x="1916829" y="9302"/>
                  </a:cubicBezTo>
                  <a:cubicBezTo>
                    <a:pt x="1922785" y="15258"/>
                    <a:pt x="1926131" y="23336"/>
                    <a:pt x="1926131" y="31758"/>
                  </a:cubicBezTo>
                  <a:lnTo>
                    <a:pt x="1926131" y="963957"/>
                  </a:lnTo>
                  <a:cubicBezTo>
                    <a:pt x="1926131" y="981496"/>
                    <a:pt x="1911912" y="995715"/>
                    <a:pt x="1894373" y="995715"/>
                  </a:cubicBezTo>
                  <a:lnTo>
                    <a:pt x="31758" y="995715"/>
                  </a:lnTo>
                  <a:cubicBezTo>
                    <a:pt x="14219" y="995715"/>
                    <a:pt x="0" y="981496"/>
                    <a:pt x="0" y="963957"/>
                  </a:cubicBezTo>
                  <a:lnTo>
                    <a:pt x="0" y="31758"/>
                  </a:lnTo>
                  <a:cubicBezTo>
                    <a:pt x="0" y="14219"/>
                    <a:pt x="14219" y="0"/>
                    <a:pt x="31758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26131" cy="10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74240" y="3718287"/>
            <a:ext cx="7313278" cy="3780606"/>
            <a:chOff x="0" y="0"/>
            <a:chExt cx="1926131" cy="995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6131" cy="995715"/>
            </a:xfrm>
            <a:custGeom>
              <a:avLst/>
              <a:gdLst/>
              <a:ahLst/>
              <a:cxnLst/>
              <a:rect r="r" b="b" t="t" l="l"/>
              <a:pathLst>
                <a:path h="995715" w="1926131">
                  <a:moveTo>
                    <a:pt x="31758" y="0"/>
                  </a:moveTo>
                  <a:lnTo>
                    <a:pt x="1894373" y="0"/>
                  </a:lnTo>
                  <a:cubicBezTo>
                    <a:pt x="1902795" y="0"/>
                    <a:pt x="1910873" y="3346"/>
                    <a:pt x="1916829" y="9302"/>
                  </a:cubicBezTo>
                  <a:cubicBezTo>
                    <a:pt x="1922785" y="15258"/>
                    <a:pt x="1926131" y="23336"/>
                    <a:pt x="1926131" y="31758"/>
                  </a:cubicBezTo>
                  <a:lnTo>
                    <a:pt x="1926131" y="963957"/>
                  </a:lnTo>
                  <a:cubicBezTo>
                    <a:pt x="1926131" y="981496"/>
                    <a:pt x="1911912" y="995715"/>
                    <a:pt x="1894373" y="995715"/>
                  </a:cubicBezTo>
                  <a:lnTo>
                    <a:pt x="31758" y="995715"/>
                  </a:lnTo>
                  <a:cubicBezTo>
                    <a:pt x="14219" y="995715"/>
                    <a:pt x="0" y="981496"/>
                    <a:pt x="0" y="963957"/>
                  </a:cubicBezTo>
                  <a:lnTo>
                    <a:pt x="0" y="31758"/>
                  </a:lnTo>
                  <a:cubicBezTo>
                    <a:pt x="0" y="14219"/>
                    <a:pt x="14219" y="0"/>
                    <a:pt x="31758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26131" cy="10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65039" y="4731536"/>
            <a:ext cx="5766520" cy="234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Base initiale : 2990 visages LFW (98,9% détectés)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Enrichissement continu (23 visages custom en 7 jours)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3861" y="3971456"/>
            <a:ext cx="588427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3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234A9">
                        <a:alpha val="100000"/>
                      </a:srgbClr>
                    </a:gs>
                    <a:gs pos="100000">
                      <a:srgbClr val="400AD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Klein Bold"/>
                <a:ea typeface="Klein Bold"/>
                <a:cs typeface="Klein Bold"/>
                <a:sym typeface="Klein Bold"/>
              </a:rPr>
              <a:t>Base de données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4056" y="1775187"/>
            <a:ext cx="1338754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sz="9000" spc="-4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Résultats - Performances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2077" y="3971456"/>
            <a:ext cx="588427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3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234A9">
                        <a:alpha val="100000"/>
                      </a:srgbClr>
                    </a:gs>
                    <a:gs pos="100000">
                      <a:srgbClr val="400AD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Klein Bold"/>
                <a:ea typeface="Klein Bold"/>
                <a:cs typeface="Klein Bold"/>
                <a:sym typeface="Klein Bold"/>
              </a:rPr>
              <a:t>Temp</a:t>
            </a:r>
            <a:r>
              <a:rPr lang="en-US" b="true" sz="33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234A9">
                        <a:alpha val="100000"/>
                      </a:srgbClr>
                    </a:gs>
                    <a:gs pos="100000">
                      <a:srgbClr val="400AD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Klein Bold"/>
                <a:ea typeface="Klein Bold"/>
                <a:cs typeface="Klein Bold"/>
                <a:sym typeface="Klein Bold"/>
              </a:rPr>
              <a:t>s de traitement (CPU)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4240" y="4731536"/>
            <a:ext cx="8140380" cy="234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Détection MTCNN : 150-300 ms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Extraction embedding : 80-120 ms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</a:t>
            </a: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cherche (3000 visages) : 10-20 ms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Total : 250-450 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29359" y="8318044"/>
            <a:ext cx="12368801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2999" i="true">
                <a:solidFill>
                  <a:srgbClr val="FFFFFF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Premier passage : 2-3s (chargement des modèles)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14621" y="9078636"/>
            <a:ext cx="463272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958943" y="-15181069"/>
            <a:ext cx="12370114" cy="18898785"/>
          </a:xfrm>
          <a:custGeom>
            <a:avLst/>
            <a:gdLst/>
            <a:ahLst/>
            <a:cxnLst/>
            <a:rect r="r" b="b" t="t" l="l"/>
            <a:pathLst>
              <a:path h="18898785" w="12370114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958943" y="6569317"/>
            <a:ext cx="12370114" cy="18898785"/>
          </a:xfrm>
          <a:custGeom>
            <a:avLst/>
            <a:gdLst/>
            <a:ahLst/>
            <a:cxnLst/>
            <a:rect r="r" b="b" t="t" l="l"/>
            <a:pathLst>
              <a:path h="18898785" w="12370114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47210" y="3802808"/>
            <a:ext cx="13563618" cy="3696086"/>
          </a:xfrm>
          <a:custGeom>
            <a:avLst/>
            <a:gdLst/>
            <a:ahLst/>
            <a:cxnLst/>
            <a:rect r="r" b="b" t="t" l="l"/>
            <a:pathLst>
              <a:path h="3696086" w="13563618">
                <a:moveTo>
                  <a:pt x="0" y="0"/>
                </a:moveTo>
                <a:lnTo>
                  <a:pt x="13563618" y="0"/>
                </a:lnTo>
                <a:lnTo>
                  <a:pt x="13563618" y="3696086"/>
                </a:lnTo>
                <a:lnTo>
                  <a:pt x="0" y="3696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34056" y="1775187"/>
            <a:ext cx="1338754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sz="9000" spc="-4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Résultats - Qualité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29359" y="8318044"/>
            <a:ext cx="12368801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2999" i="true">
                <a:solidFill>
                  <a:srgbClr val="FFFFFF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Seuil optimal retenu : 0.5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49398" y="9078636"/>
            <a:ext cx="466130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8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958943" y="6569317"/>
            <a:ext cx="12370114" cy="18898785"/>
          </a:xfrm>
          <a:custGeom>
            <a:avLst/>
            <a:gdLst/>
            <a:ahLst/>
            <a:cxnLst/>
            <a:rect r="r" b="b" t="t" l="l"/>
            <a:pathLst>
              <a:path h="18898785" w="12370114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1143" y="1964331"/>
            <a:ext cx="10398157" cy="4278219"/>
          </a:xfrm>
          <a:custGeom>
            <a:avLst/>
            <a:gdLst/>
            <a:ahLst/>
            <a:cxnLst/>
            <a:rect r="r" b="b" t="t" l="l"/>
            <a:pathLst>
              <a:path h="4278219" w="10398157">
                <a:moveTo>
                  <a:pt x="0" y="0"/>
                </a:moveTo>
                <a:lnTo>
                  <a:pt x="10398157" y="0"/>
                </a:lnTo>
                <a:lnTo>
                  <a:pt x="10398157" y="4278219"/>
                </a:lnTo>
                <a:lnTo>
                  <a:pt x="0" y="4278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45" t="0" r="0" b="-31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90911" y="495300"/>
            <a:ext cx="15368389" cy="110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00"/>
              </a:lnSpc>
            </a:pPr>
            <a:r>
              <a:rPr lang="en-US" sz="8300" spc="-4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Comparaison avec l'état de l'art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8535"/>
            <a:ext cx="5333785" cy="62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64" indent="-356232" lvl="1">
              <a:lnSpc>
                <a:spcPts val="5180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Performance sur LFW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13244"/>
            <a:ext cx="8546405" cy="62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64" indent="-356232" lvl="1">
              <a:lnSpc>
                <a:spcPts val="5180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Avantages vs solutions commerciales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5105" y="6913244"/>
            <a:ext cx="7684195" cy="234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Open source et modifiabl</a:t>
            </a: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Donné</a:t>
            </a: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es locales (pas de cloud)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oût nul</a:t>
            </a:r>
          </a:p>
          <a:p>
            <a:pPr algn="l" marL="647695" indent="-323848" lvl="1">
              <a:lnSpc>
                <a:spcPts val="470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Pédagogique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99173" y="9078636"/>
            <a:ext cx="589598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54134" y="4215911"/>
            <a:ext cx="690836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SIMULATION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005755" y="482797"/>
            <a:ext cx="8253545" cy="13234547"/>
          </a:xfrm>
          <a:custGeom>
            <a:avLst/>
            <a:gdLst/>
            <a:ahLst/>
            <a:cxnLst/>
            <a:rect r="r" b="b" t="t" l="l"/>
            <a:pathLst>
              <a:path h="13234547" w="8253545">
                <a:moveTo>
                  <a:pt x="0" y="0"/>
                </a:moveTo>
                <a:lnTo>
                  <a:pt x="8253545" y="0"/>
                </a:lnTo>
                <a:lnTo>
                  <a:pt x="8253545" y="13234546"/>
                </a:lnTo>
                <a:lnTo>
                  <a:pt x="0" y="1323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34782" y="9172575"/>
            <a:ext cx="385643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311243" y="1028700"/>
            <a:ext cx="1665514" cy="1665514"/>
          </a:xfrm>
          <a:custGeom>
            <a:avLst/>
            <a:gdLst/>
            <a:ahLst/>
            <a:cxnLst/>
            <a:rect r="r" b="b" t="t" l="l"/>
            <a:pathLst>
              <a:path h="1665514" w="1665514">
                <a:moveTo>
                  <a:pt x="0" y="0"/>
                </a:moveTo>
                <a:lnTo>
                  <a:pt x="1665514" y="0"/>
                </a:lnTo>
                <a:lnTo>
                  <a:pt x="1665514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5609" y="5700467"/>
            <a:ext cx="1665514" cy="1665514"/>
          </a:xfrm>
          <a:custGeom>
            <a:avLst/>
            <a:gdLst/>
            <a:ahLst/>
            <a:cxnLst/>
            <a:rect r="r" b="b" t="t" l="l"/>
            <a:pathLst>
              <a:path h="1665514" w="1665514">
                <a:moveTo>
                  <a:pt x="0" y="0"/>
                </a:moveTo>
                <a:lnTo>
                  <a:pt x="1665514" y="0"/>
                </a:lnTo>
                <a:lnTo>
                  <a:pt x="1665514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13832"/>
            <a:ext cx="6435788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Limitations observées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78366" y="1066800"/>
            <a:ext cx="225635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Cas d'échec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5779" y="5940860"/>
            <a:ext cx="385726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Biais du dataset LFW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71215" y="1579182"/>
            <a:ext cx="7188085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Visages partiellement occultés (masques, lunettes)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Angles extrêmes (profil complet)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Éclairage très faible ou contre-jour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Résolution tro</a:t>
            </a: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 faible (&lt; 100×100 pixels)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Visages multiples (sélection automatique du plus grand)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06543" y="6485599"/>
            <a:ext cx="575275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Sur-représentation de personnalités politiques US/EU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Déséquilibre ethnique et de genre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mpact sur la qualité pour d'autres catégories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7315606" y="-844695"/>
            <a:ext cx="0" cy="11976390"/>
          </a:xfrm>
          <a:prstGeom prst="line">
            <a:avLst/>
          </a:prstGeom>
          <a:ln cap="flat" w="38100">
            <a:solidFill>
              <a:srgbClr val="9B6A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471679" y="9172575"/>
            <a:ext cx="511850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9086" y="4282626"/>
            <a:ext cx="64789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64655" y="9172575"/>
            <a:ext cx="525899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28297" y="-1636531"/>
            <a:ext cx="15638093" cy="16831607"/>
          </a:xfrm>
          <a:custGeom>
            <a:avLst/>
            <a:gdLst/>
            <a:ahLst/>
            <a:cxnLst/>
            <a:rect r="r" b="b" t="t" l="l"/>
            <a:pathLst>
              <a:path h="16831607" w="15638093">
                <a:moveTo>
                  <a:pt x="0" y="0"/>
                </a:moveTo>
                <a:lnTo>
                  <a:pt x="15638093" y="0"/>
                </a:lnTo>
                <a:lnTo>
                  <a:pt x="15638093" y="16831606"/>
                </a:lnTo>
                <a:lnTo>
                  <a:pt x="0" y="16831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98525" y="4300538"/>
            <a:ext cx="391787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MERCI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75748" y="5605462"/>
            <a:ext cx="36812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de votre attention !!!!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57987" y="9172575"/>
            <a:ext cx="539234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DAG-rzCzm8w</dc:identifier>
  <dcterms:modified xsi:type="dcterms:W3CDTF">2011-08-01T06:04:30Z</dcterms:modified>
  <cp:revision>1</cp:revision>
  <dc:title>Copie de Artificial Intelligence Seminar Slides</dc:title>
</cp:coreProperties>
</file>